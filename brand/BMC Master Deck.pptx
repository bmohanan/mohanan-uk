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Open with the headline and the room. Mention the date, the audience name. Keep this on screen until everyone's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Pause for two beats. The job of this slide is to reset the room's attention, not to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practices. Strategy, FinOps, Delivery. Frame each as one sentence — then move on. The detail is in the back-up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clouds. Don't pick a side. The point is that the consultancy is bilingual — AWS and Azure on the same page, in the same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slide. Read the big number, give the context, move on. Do not read the small print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slide. Read it slowly. Pause. Then attribute. Trust the typography to do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Call to action — book the call. Surface the email and diary link.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550580" y="481012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title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71450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1350" spc="81" kern="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 </a:t>
            </a:r>
            <a:pPr algn="l" indent="0" marL="0">
              <a:buNone/>
            </a:pPr>
            <a:r>
              <a:rPr lang="en-US" sz="1350" spc="81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</a:t>
            </a:r>
            <a:pPr algn="l" indent="0" marL="0">
              <a:buNone/>
            </a:pPr>
            <a:r>
              <a:rPr lang="en-US" sz="1350" spc="81" kern="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350" spc="81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capabilities.md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200275"/>
            <a:ext cx="14716125" cy="530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b="1" spc="-60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cloud </a:t>
            </a:r>
            <a:pPr algn="l" indent="0" marL="0">
              <a:lnSpc>
                <a:spcPct val="92000"/>
              </a:lnSpc>
              <a:buNone/>
            </a:pPr>
            <a:r>
              <a:rPr lang="en-US" sz="15000" i="1" spc="-600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pay back </a:t>
            </a:r>
            <a:pPr algn="l" indent="0" marL="0">
              <a:lnSpc>
                <a:spcPct val="92000"/>
              </a:lnSpc>
              <a:buNone/>
            </a:pPr>
            <a:r>
              <a:rPr lang="en-US" sz="15000" b="1" spc="-60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92000"/>
              </a:lnSpc>
              <a:buNone/>
            </a:pPr>
            <a:r>
              <a:rPr lang="en-US" sz="15000" b="1" spc="-60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promise.</a:t>
            </a:r>
            <a:endParaRPr lang="en-US" sz="15000" dirty="0"/>
          </a:p>
        </p:txBody>
      </p:sp>
      <p:sp>
        <p:nvSpPr>
          <p:cNvPr id="9" name="Text 7"/>
          <p:cNvSpPr/>
          <p:nvPr/>
        </p:nvSpPr>
        <p:spPr>
          <a:xfrm>
            <a:off x="914400" y="7810500"/>
            <a:ext cx="107918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F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transformation, FinOps and operational excellence for AWS &amp; Azure enterprises. Strategy, delivery and the commercial fluency to do both.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9315450"/>
            <a:ext cx="1775668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175" y="9363075"/>
            <a:ext cx="1391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139279" y="9363075"/>
            <a:ext cx="15220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London · United Kingdom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2842468" y="9315450"/>
            <a:ext cx="77539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7243" y="9363075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est. 2026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770263" y="9315450"/>
            <a:ext cx="77539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5038" y="9363075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deck v1.0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994720" y="9829800"/>
            <a:ext cx="13121432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344751" y="9725025"/>
            <a:ext cx="11050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mohanan.uk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830401" y="481012"/>
            <a:ext cx="16193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 — section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CHAPTER 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4467225"/>
            <a:ext cx="16952976" cy="197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0" b="1" spc="-66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</a:t>
            </a:r>
            <a:pPr algn="l" indent="0" marL="0">
              <a:lnSpc>
                <a:spcPct val="92000"/>
              </a:lnSpc>
              <a:buNone/>
            </a:pPr>
            <a:r>
              <a:rPr lang="en-US" sz="16500" i="1" spc="-660" kern="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</a:t>
            </a:r>
            <a:pPr algn="l" indent="0" marL="0">
              <a:lnSpc>
                <a:spcPct val="92000"/>
              </a:lnSpc>
              <a:buNone/>
            </a:pPr>
            <a:r>
              <a:rPr lang="en-US" sz="16500" b="1" spc="-66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0" dirty="0"/>
          </a:p>
        </p:txBody>
      </p:sp>
      <p:sp>
        <p:nvSpPr>
          <p:cNvPr id="9" name="Text 7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94720" y="9829800"/>
            <a:ext cx="1394445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7167771" y="972502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21880" y="481012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 — what we do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714500"/>
            <a:ext cx="147161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spc="-158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practices, one </a:t>
            </a:r>
            <a:pPr algn="l" indent="0" marL="0">
              <a:lnSpc>
                <a:spcPct val="102000"/>
              </a:lnSpc>
              <a:buNone/>
            </a:pPr>
            <a:r>
              <a:rPr lang="en-US" sz="6300" i="1" spc="-158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commercial 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spc="-15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lens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spc="-158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914400" y="3867150"/>
            <a:ext cx="856208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43375"/>
            <a:ext cx="8382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05000" y="4086225"/>
            <a:ext cx="779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strategy &amp; pre-sales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05000" y="4486275"/>
            <a:ext cx="7798626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vendors win and enterprises choose. RFPs, TCO models, executive narratives.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953125"/>
            <a:ext cx="856208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229350"/>
            <a:ext cx="8382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05000" y="6172200"/>
            <a:ext cx="779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 &amp; unit economics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905000" y="6572250"/>
            <a:ext cx="7798626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bill into a P&amp;L. Per-customer, per-feature cost — and the commitments that lock the savings in.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915525"/>
            <a:ext cx="856208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8039100"/>
            <a:ext cx="856208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8315325"/>
            <a:ext cx="838200" cy="142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05000" y="8258175"/>
            <a:ext cx="779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&amp; operational excellence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905000" y="8658225"/>
            <a:ext cx="7798626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zones, incident review, interim leadership — the unglamorous middle of a cloud programme.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238482" y="3867150"/>
            <a:ext cx="734901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CF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is the consultancy a CTO calls when the cloud bill stops making sense, or when a vendor is selling more than the team can land.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238482" y="5324475"/>
            <a:ext cx="734901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hyperscalers, one voice — bilingual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the commercial fluency to talk to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SREs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same paragraph.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994720" y="9829800"/>
            <a:ext cx="1394445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167771" y="972502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24721" y="481012"/>
            <a:ext cx="18250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 — platforms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714500"/>
            <a:ext cx="1695297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across the </a:t>
            </a:r>
            <a:pPr algn="l" indent="0" marL="0">
              <a:buNone/>
            </a:pPr>
            <a:r>
              <a:rPr lang="en-US" sz="4800" i="1" spc="-120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</a:t>
            </a:r>
            <a:pPr algn="l" indent="0" marL="0">
              <a:buNone/>
            </a:pPr>
            <a:r>
              <a:rPr lang="en-US" sz="4800" b="1" spc="-12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clouds that matter.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14400" y="2924175"/>
            <a:ext cx="8001000" cy="6600825"/>
          </a:xfrm>
          <a:prstGeom prst="roundRect">
            <a:avLst>
              <a:gd name="adj" fmla="val 3463"/>
            </a:avLst>
          </a:prstGeom>
          <a:solidFill>
            <a:srgbClr val="0E0E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1125" y="3390900"/>
            <a:ext cx="72795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81125" y="3838575"/>
            <a:ext cx="727957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4200" i="1" spc="-105" kern="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scale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cloud.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81125" y="5133975"/>
            <a:ext cx="72795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global delivery, deep service breadth and the most mature FinOps tooling live. Where most workloads still default to.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61110" y="5953125"/>
            <a:ext cx="726376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EKS · Fargate · EC2 Graviton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Aurora · RDS · Athena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 &amp; SageMaker Savings Plans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Explorer · CUR · FOCUS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81125" y="7524750"/>
            <a:ext cx="7067550" cy="1333500"/>
          </a:xfrm>
          <a:prstGeom prst="rect">
            <a:avLst/>
          </a:prstGeom>
          <a:solidFill>
            <a:srgbClr val="6A3DF5"/>
          </a:solidFill>
          <a:ln/>
        </p:spPr>
      </p:sp>
      <p:sp>
        <p:nvSpPr>
          <p:cNvPr id="14" name="Text 12"/>
          <p:cNvSpPr/>
          <p:nvPr/>
        </p:nvSpPr>
        <p:spPr>
          <a:xfrm>
            <a:off x="1381125" y="7524750"/>
            <a:ext cx="727957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£24m</a:t>
            </a:r>
            <a:endParaRPr lang="en-US" sz="10500" dirty="0"/>
          </a:p>
        </p:txBody>
      </p:sp>
      <p:sp>
        <p:nvSpPr>
          <p:cNvPr id="15" name="Text 13"/>
          <p:cNvSpPr/>
          <p:nvPr/>
        </p:nvSpPr>
        <p:spPr>
          <a:xfrm>
            <a:off x="1381125" y="8858250"/>
            <a:ext cx="7279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ADVISED ANNUALLY · UK + EMEA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72600" y="2924175"/>
            <a:ext cx="8001000" cy="6600825"/>
          </a:xfrm>
          <a:prstGeom prst="roundRect">
            <a:avLst>
              <a:gd name="adj" fmla="val 3463"/>
            </a:avLst>
          </a:prstGeom>
          <a:solidFill>
            <a:srgbClr val="0E0E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39325" y="3390900"/>
            <a:ext cx="72795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Azure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39325" y="3838575"/>
            <a:ext cx="727957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4200" i="1" spc="-105" kern="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enterprise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cloud.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839325" y="5133975"/>
            <a:ext cx="72795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D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M365, Active Directory and the licence-asset model already live. Where boardroom CIOs ask the most questions.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19310" y="5953125"/>
            <a:ext cx="726376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AKS · Container Apps · VMSS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 DB · Synapse · Fabric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Reserved Capacity + Hybrid Benefit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FD2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Management · Advisor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839325" y="7524750"/>
            <a:ext cx="7067550" cy="1333500"/>
          </a:xfrm>
          <a:prstGeom prst="rect">
            <a:avLst/>
          </a:prstGeom>
          <a:solidFill>
            <a:srgbClr val="6A3DF5"/>
          </a:solidFill>
          <a:ln/>
        </p:spPr>
      </p:sp>
      <p:sp>
        <p:nvSpPr>
          <p:cNvPr id="22" name="Text 20"/>
          <p:cNvSpPr/>
          <p:nvPr/>
        </p:nvSpPr>
        <p:spPr>
          <a:xfrm>
            <a:off x="9839325" y="7524750"/>
            <a:ext cx="727957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£16m</a:t>
            </a:r>
            <a:endParaRPr lang="en-US" sz="10500" dirty="0"/>
          </a:p>
        </p:txBody>
      </p:sp>
      <p:sp>
        <p:nvSpPr>
          <p:cNvPr id="23" name="Text 21"/>
          <p:cNvSpPr/>
          <p:nvPr/>
        </p:nvSpPr>
        <p:spPr>
          <a:xfrm>
            <a:off x="9839325" y="8858250"/>
            <a:ext cx="7279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ADVISED ANNUALLY · UK + EMEA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994720" y="9829800"/>
            <a:ext cx="1394445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7167771" y="972502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36230" y="481012"/>
            <a:ext cx="14135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03 — proof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714500"/>
            <a:ext cx="1695297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last </a:t>
            </a:r>
            <a:pPr algn="l" indent="0" marL="0">
              <a:buNone/>
            </a:pPr>
            <a:r>
              <a:rPr lang="en-US" sz="4200" i="1" spc="-105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fourteen </a:t>
            </a:r>
            <a:pPr algn="l" indent="0" marL="0">
              <a:buNone/>
            </a:pPr>
            <a:r>
              <a:rPr lang="en-US" sz="4200" b="1" spc="-105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engagements looked like.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14400" y="2752725"/>
            <a:ext cx="16459200" cy="2886075"/>
          </a:xfrm>
          <a:prstGeom prst="roundRect">
            <a:avLst>
              <a:gd name="adj" fmla="val 7921"/>
            </a:avLst>
          </a:prstGeom>
          <a:solidFill>
            <a:srgbClr val="0E0E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4438" y="2762250"/>
            <a:ext cx="9525" cy="28670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81125" y="3219450"/>
            <a:ext cx="3281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ENGAGEMENTS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1125" y="3552825"/>
            <a:ext cx="32816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381125" y="4676775"/>
            <a:ext cx="32816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&amp; commitment reviews delivered FY24–FY26.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34475" y="2762250"/>
            <a:ext cx="9525" cy="28670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91163" y="3219450"/>
            <a:ext cx="3281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AVG. SAVING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91163" y="3552825"/>
            <a:ext cx="3186113" cy="914400"/>
          </a:xfrm>
          <a:prstGeom prst="rect">
            <a:avLst/>
          </a:prstGeom>
          <a:solidFill>
            <a:srgbClr val="6A3D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91163" y="3552825"/>
            <a:ext cx="32816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5491163" y="4676775"/>
            <a:ext cx="32816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net annual saving on covered run-rate.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244513" y="2762250"/>
            <a:ext cx="9525" cy="28670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3219450"/>
            <a:ext cx="3281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PAYBACK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0" y="3552825"/>
            <a:ext cx="32816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4mo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9601200" y="4676775"/>
            <a:ext cx="32816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commercial payback on advisory + buy-down fees.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711238" y="3219450"/>
            <a:ext cx="32915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RECOMMENDED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1238" y="3552825"/>
            <a:ext cx="329150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3711238" y="4676775"/>
            <a:ext cx="329150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last-12-month clients booked a follow-on engagement.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6019800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215063"/>
            <a:ext cx="2171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EC2 &amp; VM right-size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238500" y="6281738"/>
            <a:ext cx="125730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6281738"/>
            <a:ext cx="10561290" cy="114300"/>
          </a:xfrm>
          <a:prstGeom prst="roundRect">
            <a:avLst>
              <a:gd name="adj" fmla="val 50000"/>
            </a:avLst>
          </a:prstGeom>
          <a:solidFill>
            <a:srgbClr val="6A3DF5"/>
          </a:solidFill>
          <a:ln/>
        </p:spPr>
      </p:sp>
      <p:sp>
        <p:nvSpPr>
          <p:cNvPr id="29" name="Text 27"/>
          <p:cNvSpPr/>
          <p:nvPr/>
        </p:nvSpPr>
        <p:spPr>
          <a:xfrm>
            <a:off x="15963900" y="6200775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£480k / yr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14400" y="6648450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6843713"/>
            <a:ext cx="2171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 Plans + RIs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3238500" y="6910388"/>
            <a:ext cx="125730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38500" y="6910388"/>
            <a:ext cx="12069961" cy="114300"/>
          </a:xfrm>
          <a:prstGeom prst="roundRect">
            <a:avLst>
              <a:gd name="adj" fmla="val 50000"/>
            </a:avLst>
          </a:prstGeom>
          <a:solidFill>
            <a:srgbClr val="6A3DF5"/>
          </a:solidFill>
          <a:ln/>
        </p:spPr>
      </p:sp>
      <p:sp>
        <p:nvSpPr>
          <p:cNvPr id="34" name="Text 32"/>
          <p:cNvSpPr/>
          <p:nvPr/>
        </p:nvSpPr>
        <p:spPr>
          <a:xfrm>
            <a:off x="15963900" y="6829425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£640k / yr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14400" y="7277100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7458075"/>
            <a:ext cx="2171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· Aurora · Hybrid Benefit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3238500" y="7648575"/>
            <a:ext cx="125730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38500" y="7648575"/>
            <a:ext cx="7795171" cy="114300"/>
          </a:xfrm>
          <a:prstGeom prst="roundRect">
            <a:avLst>
              <a:gd name="adj" fmla="val 50000"/>
            </a:avLst>
          </a:prstGeom>
          <a:solidFill>
            <a:srgbClr val="6A3DF5"/>
          </a:solidFill>
          <a:ln/>
        </p:spPr>
      </p:sp>
      <p:sp>
        <p:nvSpPr>
          <p:cNvPr id="39" name="Text 37"/>
          <p:cNvSpPr/>
          <p:nvPr/>
        </p:nvSpPr>
        <p:spPr>
          <a:xfrm>
            <a:off x="15963900" y="7567612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£310k / yr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14400" y="8972550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" y="8124825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8305800"/>
            <a:ext cx="2171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· network · hygiene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3238500" y="8496300"/>
            <a:ext cx="125730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38500" y="8496300"/>
            <a:ext cx="4777680" cy="114300"/>
          </a:xfrm>
          <a:prstGeom prst="roundRect">
            <a:avLst>
              <a:gd name="adj" fmla="val 50000"/>
            </a:avLst>
          </a:prstGeom>
          <a:solidFill>
            <a:srgbClr val="6A3DF5"/>
          </a:solidFill>
          <a:ln/>
        </p:spPr>
      </p:sp>
      <p:sp>
        <p:nvSpPr>
          <p:cNvPr id="45" name="Text 43"/>
          <p:cNvSpPr/>
          <p:nvPr/>
        </p:nvSpPr>
        <p:spPr>
          <a:xfrm>
            <a:off x="15963900" y="8415338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£180k / yr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2994720" y="9829800"/>
            <a:ext cx="1394445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7167771" y="972502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62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36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543050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933390" y="481012"/>
            <a:ext cx="15164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testimonial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033588"/>
            <a:ext cx="1045518" cy="1866900"/>
          </a:xfrm>
          <a:prstGeom prst="rect">
            <a:avLst/>
          </a:prstGeom>
          <a:solidFill>
            <a:srgbClr val="6A3D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33588"/>
            <a:ext cx="1121718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21000" b="1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</a:t>
            </a:r>
            <a:endParaRPr lang="en-US" sz="21000" dirty="0"/>
          </a:p>
        </p:txBody>
      </p:sp>
      <p:sp>
        <p:nvSpPr>
          <p:cNvPr id="9" name="Text 7"/>
          <p:cNvSpPr/>
          <p:nvPr/>
        </p:nvSpPr>
        <p:spPr>
          <a:xfrm>
            <a:off x="914400" y="3519488"/>
            <a:ext cx="14716125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0" spc="-144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BMC found </a:t>
            </a:r>
            <a:pPr algn="l" indent="0" marL="0">
              <a:lnSpc>
                <a:spcPct val="110000"/>
              </a:lnSpc>
              <a:buNone/>
            </a:pPr>
            <a:r>
              <a:rPr lang="en-US" sz="7200" i="1" spc="-144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£840k </a:t>
            </a:r>
            <a:pPr algn="l" indent="0" marL="0">
              <a:lnSpc>
                <a:spcPct val="110000"/>
              </a:lnSpc>
              <a:buNone/>
            </a:pPr>
            <a:r>
              <a:rPr lang="en-US" sz="7200" spc="-144" kern="0" dirty="0">
                <a:solidFill>
                  <a:srgbClr val="F3F4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of annual savings in the first month — and the diligence to land them in the second.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14400" y="7977188"/>
            <a:ext cx="62161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</a:t>
            </a:r>
            <a:pPr algn="l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CTO </a:t>
            </a:r>
            <a:pPr algn="l" indent="0" marL="0">
              <a:buNone/>
            </a:pPr>
            <a:r>
              <a:rPr lang="en-US" sz="16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UK-listed SaaS · post-engagement Q4 2025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94720" y="9829800"/>
            <a:ext cx="1394445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167771" y="972502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42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6A3DF5"/>
          </a:solidFill>
          <a:ln/>
          <a:effectLst>
            <a:outerShdw sx="100000" sy="100000" kx="0" ky="0" algn="bl" rotWithShape="0" blurRad="266700" dist="76200" dir="5400000">
              <a:srgbClr val="AA3CE6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58155" y="519113"/>
            <a:ext cx="156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87653" y="490538"/>
            <a:ext cx="316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spc="-4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498736" y="452438"/>
            <a:ext cx="3042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Bimal Mohanan Consulting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512480" y="481012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close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00579" y="2814638"/>
            <a:ext cx="18868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198" kern="0" dirty="0">
                <a:solidFill>
                  <a:srgbClr val="46D9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NEXT STEP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89757" y="3357563"/>
            <a:ext cx="7708337" cy="330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0" b="1" spc="-54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</a:t>
            </a:r>
            <a:pPr algn="ctr" indent="0" marL="0">
              <a:lnSpc>
                <a:spcPct val="95000"/>
              </a:lnSpc>
              <a:buNone/>
            </a:pPr>
            <a:r>
              <a:rPr lang="en-US" sz="13500" i="1" spc="-540" kern="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talk </a:t>
            </a:r>
            <a:pPr algn="ctr" indent="0" marL="0">
              <a:lnSpc>
                <a:spcPct val="95000"/>
              </a:lnSpc>
              <a:buNone/>
            </a:pPr>
            <a:r>
              <a:rPr lang="en-US" sz="13500" b="1" spc="-540" kern="0" dirty="0">
                <a:solidFill>
                  <a:srgbClr val="F3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numbers.</a:t>
            </a:r>
            <a:endParaRPr lang="en-US" sz="13500" dirty="0"/>
          </a:p>
        </p:txBody>
      </p:sp>
      <p:sp>
        <p:nvSpPr>
          <p:cNvPr id="9" name="Text 7"/>
          <p:cNvSpPr/>
          <p:nvPr/>
        </p:nvSpPr>
        <p:spPr>
          <a:xfrm>
            <a:off x="5524351" y="7196138"/>
            <a:ext cx="20879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hello@mohanan.uk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069461" y="7196138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FD2DC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728621" y="7196138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cal.com/bmc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645080" y="7196138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FD2DC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304240" y="7196138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London · UK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76300" y="9725025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BMC · capabilities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994720" y="9829800"/>
            <a:ext cx="13430101" cy="9525"/>
          </a:xfrm>
          <a:prstGeom prst="rect">
            <a:avLst/>
          </a:prstGeom>
          <a:solidFill>
            <a:srgbClr val="6A3DF5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6615321" y="9725025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2026-05-26T00:16:28Z</dcterms:created>
  <dcterms:modified xsi:type="dcterms:W3CDTF">2026-05-26T00:16:28Z</dcterms:modified>
</cp:coreProperties>
</file>